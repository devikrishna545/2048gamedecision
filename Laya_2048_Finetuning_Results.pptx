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1CFB0"/>
          </a:solidFill>
          <a:ln>
            <a:solidFill>
              <a:srgbClr val="21C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62179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21CFB0"/>
                </a:solidFill>
                <a:latin typeface="Aptos"/>
              </a:defRPr>
            </a:pPr>
            <a:r>
              <a:t>2048 AGENT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051560"/>
            <a:ext cx="67665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t>Fine-tuning Laya</a:t>
            </a:r>
            <a:br/>
            <a:r>
              <a:t>made it 2.7x better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6217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C7D7E6"/>
                </a:solidFill>
                <a:latin typeface="Aptos"/>
              </a:defRPr>
            </a:pPr>
            <a:r>
              <a:t>A LoRA adapter trained on Jev + greedy move examples transformed Laya's 2048 play on unseen boards.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77639"/>
            <a:ext cx="2286000" cy="1243584"/>
          </a:xfrm>
          <a:prstGeom prst="roundRect">
            <a:avLst/>
          </a:prstGeom>
          <a:solidFill>
            <a:srgbClr val="F0F7F9"/>
          </a:solidFill>
          <a:ln>
            <a:solidFill>
              <a:srgbClr val="F0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3977639"/>
            <a:ext cx="73152" cy="1243584"/>
          </a:xfrm>
          <a:prstGeom prst="roundRect">
            <a:avLst/>
          </a:prstGeom>
          <a:solidFill>
            <a:srgbClr val="21CFB0"/>
          </a:solidFill>
          <a:ln>
            <a:solidFill>
              <a:srgbClr val="21C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420624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2500" b="1">
                <a:solidFill>
                  <a:srgbClr val="1D2B3D"/>
                </a:solidFill>
                <a:latin typeface="Aptos"/>
              </a:defRPr>
            </a:pPr>
            <a:r>
              <a:t>3,747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4736592"/>
            <a:ext cx="187451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677A92"/>
                </a:solidFill>
                <a:latin typeface="Aptos"/>
              </a:defRPr>
            </a:pPr>
            <a:r>
              <a:t>mean score / fine-tuned Laya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18688" y="3977639"/>
            <a:ext cx="2286000" cy="1243584"/>
          </a:xfrm>
          <a:prstGeom prst="roundRect">
            <a:avLst/>
          </a:prstGeom>
          <a:solidFill>
            <a:srgbClr val="F0F7F9"/>
          </a:solidFill>
          <a:ln>
            <a:solidFill>
              <a:srgbClr val="F0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18688" y="3977639"/>
            <a:ext cx="73152" cy="1243584"/>
          </a:xfrm>
          <a:prstGeom prst="roundRect">
            <a:avLst/>
          </a:prstGeom>
          <a:solidFill>
            <a:srgbClr val="5BB4FF"/>
          </a:solidFill>
          <a:ln>
            <a:solidFill>
              <a:srgbClr val="5B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420624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2500" b="1">
                <a:solidFill>
                  <a:srgbClr val="1D2B3D"/>
                </a:solidFill>
                <a:latin typeface="Aptos"/>
              </a:defRPr>
            </a:pPr>
            <a:r>
              <a:t>19 / 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4736592"/>
            <a:ext cx="187451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677A92"/>
                </a:solidFill>
                <a:latin typeface="Aptos"/>
              </a:defRPr>
            </a:pPr>
            <a:r>
              <a:t>fresh boards won vs original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05856" y="3977639"/>
            <a:ext cx="2286000" cy="1243584"/>
          </a:xfrm>
          <a:prstGeom prst="roundRect">
            <a:avLst/>
          </a:prstGeom>
          <a:solidFill>
            <a:srgbClr val="F0F7F9"/>
          </a:solidFill>
          <a:ln>
            <a:solidFill>
              <a:srgbClr val="F0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705856" y="3977639"/>
            <a:ext cx="73152" cy="1243584"/>
          </a:xfrm>
          <a:prstGeom prst="roundRect">
            <a:avLst/>
          </a:prstGeom>
          <a:solidFill>
            <a:srgbClr val="FFA949"/>
          </a:solidFill>
          <a:ln>
            <a:solidFill>
              <a:srgbClr val="FFA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61888" y="420624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2500" b="1">
                <a:solidFill>
                  <a:srgbClr val="1D2B3D"/>
                </a:solidFill>
                <a:latin typeface="Aptos"/>
              </a:defRPr>
            </a:pPr>
            <a:r>
              <a:t>94.3%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61888" y="4736592"/>
            <a:ext cx="187451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677A92"/>
                </a:solidFill>
                <a:latin typeface="Aptos"/>
              </a:defRPr>
            </a:pPr>
            <a:r>
              <a:t>teacher agreement after epoch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1051560"/>
            <a:ext cx="566928" cy="566928"/>
          </a:xfrm>
          <a:prstGeom prst="roundRect">
            <a:avLst/>
          </a:prstGeom>
          <a:solidFill>
            <a:srgbClr val="EDC850"/>
          </a:solidFill>
          <a:ln w="31750">
            <a:solidFill>
              <a:srgbClr val="21C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1124712"/>
            <a:ext cx="56692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512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70848" y="1051560"/>
            <a:ext cx="566928" cy="566928"/>
          </a:xfrm>
          <a:prstGeom prst="roundRect">
            <a:avLst/>
          </a:prstGeom>
          <a:solidFill>
            <a:srgbClr val="EDCC61"/>
          </a:solidFill>
          <a:ln>
            <a:solidFill>
              <a:srgbClr val="EDC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70848" y="1124712"/>
            <a:ext cx="56692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256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83496" y="1051560"/>
            <a:ext cx="566928" cy="566928"/>
          </a:xfrm>
          <a:prstGeom prst="roundRect">
            <a:avLst/>
          </a:prstGeom>
          <a:solidFill>
            <a:srgbClr val="F65E3B"/>
          </a:solidFill>
          <a:ln>
            <a:solidFill>
              <a:srgbClr val="F65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83496" y="1124712"/>
            <a:ext cx="56692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64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96144" y="1051560"/>
            <a:ext cx="566928" cy="566928"/>
          </a:xfrm>
          <a:prstGeom prst="roundRect">
            <a:avLst/>
          </a:prstGeom>
          <a:solidFill>
            <a:srgbClr val="F67C5F"/>
          </a:solidFill>
          <a:ln>
            <a:solidFill>
              <a:srgbClr val="F67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96144" y="1124712"/>
            <a:ext cx="56692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32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58200" y="1664207"/>
            <a:ext cx="566928" cy="566928"/>
          </a:xfrm>
          <a:prstGeom prst="roundRect">
            <a:avLst/>
          </a:prstGeom>
          <a:solidFill>
            <a:srgbClr val="EDCF72"/>
          </a:solidFill>
          <a:ln>
            <a:solidFill>
              <a:srgbClr val="EDC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200" y="1737360"/>
            <a:ext cx="56692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128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70848" y="1664207"/>
            <a:ext cx="566928" cy="566928"/>
          </a:xfrm>
          <a:prstGeom prst="roundRect">
            <a:avLst/>
          </a:prstGeom>
          <a:solidFill>
            <a:srgbClr val="F67C5F"/>
          </a:solidFill>
          <a:ln>
            <a:solidFill>
              <a:srgbClr val="F67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70848" y="1737360"/>
            <a:ext cx="56692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32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83496" y="1664207"/>
            <a:ext cx="566928" cy="566928"/>
          </a:xfrm>
          <a:prstGeom prst="roundRect">
            <a:avLst/>
          </a:prstGeom>
          <a:solidFill>
            <a:srgbClr val="F59563"/>
          </a:solidFill>
          <a:ln>
            <a:solidFill>
              <a:srgbClr val="F59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83496" y="1737360"/>
            <a:ext cx="56692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96144" y="1664207"/>
            <a:ext cx="566928" cy="566928"/>
          </a:xfrm>
          <a:prstGeom prst="roundRect">
            <a:avLst/>
          </a:prstGeom>
          <a:solidFill>
            <a:srgbClr val="F2B179"/>
          </a:solidFill>
          <a:ln>
            <a:solidFill>
              <a:srgbClr val="F2B1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96144" y="1737360"/>
            <a:ext cx="56692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58200" y="2276856"/>
            <a:ext cx="566928" cy="566928"/>
          </a:xfrm>
          <a:prstGeom prst="roundRect">
            <a:avLst/>
          </a:prstGeom>
          <a:solidFill>
            <a:srgbClr val="F65E3B"/>
          </a:solidFill>
          <a:ln>
            <a:solidFill>
              <a:srgbClr val="F65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58200" y="2350008"/>
            <a:ext cx="56692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64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70848" y="2276856"/>
            <a:ext cx="566928" cy="566928"/>
          </a:xfrm>
          <a:prstGeom prst="roundRect">
            <a:avLst/>
          </a:prstGeom>
          <a:solidFill>
            <a:srgbClr val="F59563"/>
          </a:solidFill>
          <a:ln>
            <a:solidFill>
              <a:srgbClr val="F59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70848" y="2350008"/>
            <a:ext cx="56692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83496" y="2276856"/>
            <a:ext cx="566928" cy="566928"/>
          </a:xfrm>
          <a:prstGeom prst="roundRect">
            <a:avLst/>
          </a:prstGeom>
          <a:solidFill>
            <a:srgbClr val="F2B179"/>
          </a:solidFill>
          <a:ln>
            <a:solidFill>
              <a:srgbClr val="F2B1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83496" y="2350008"/>
            <a:ext cx="56692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296144" y="2276856"/>
            <a:ext cx="566928" cy="566928"/>
          </a:xfrm>
          <a:prstGeom prst="roundRect">
            <a:avLst/>
          </a:prstGeom>
          <a:solidFill>
            <a:srgbClr val="EDE0C8"/>
          </a:solidFill>
          <a:ln>
            <a:solidFill>
              <a:srgbClr val="EDE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96144" y="2350008"/>
            <a:ext cx="56692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1D2B3D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458200" y="2889504"/>
            <a:ext cx="566928" cy="566928"/>
          </a:xfrm>
          <a:prstGeom prst="roundRect">
            <a:avLst/>
          </a:prstGeom>
          <a:solidFill>
            <a:srgbClr val="EDE0C8"/>
          </a:solidFill>
          <a:ln>
            <a:solidFill>
              <a:srgbClr val="EDE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58200" y="2962656"/>
            <a:ext cx="56692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1D2B3D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70848" y="2889504"/>
            <a:ext cx="566928" cy="566928"/>
          </a:xfrm>
          <a:prstGeom prst="roundRect">
            <a:avLst/>
          </a:prstGeom>
          <a:solidFill>
            <a:srgbClr val="EEE4DA"/>
          </a:solidFill>
          <a:ln>
            <a:solidFill>
              <a:srgbClr val="EEE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70848" y="2962656"/>
            <a:ext cx="56692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1D2B3D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683496" y="2889504"/>
            <a:ext cx="566928" cy="566928"/>
          </a:xfrm>
          <a:prstGeom prst="roundRect">
            <a:avLst/>
          </a:prstGeom>
          <a:solidFill>
            <a:srgbClr val="2F4157"/>
          </a:solidFill>
          <a:ln>
            <a:solidFill>
              <a:srgbClr val="2F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83496" y="2962656"/>
            <a:ext cx="56692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1D2B3D"/>
                </a:solidFill>
                <a:latin typeface="Aptos"/>
              </a:defRPr>
            </a:pPr>
          </a:p>
        </p:txBody>
      </p:sp>
      <p:sp>
        <p:nvSpPr>
          <p:cNvPr id="48" name="Rounded Rectangle 47"/>
          <p:cNvSpPr/>
          <p:nvPr/>
        </p:nvSpPr>
        <p:spPr>
          <a:xfrm>
            <a:off x="10296144" y="2889504"/>
            <a:ext cx="566928" cy="566928"/>
          </a:xfrm>
          <a:prstGeom prst="roundRect">
            <a:avLst/>
          </a:prstGeom>
          <a:solidFill>
            <a:srgbClr val="2F4157"/>
          </a:solidFill>
          <a:ln>
            <a:solidFill>
              <a:srgbClr val="2F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296144" y="2962656"/>
            <a:ext cx="56692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1D2B3D"/>
                </a:solidFill>
                <a:latin typeface="Aptos"/>
              </a:defRPr>
            </a:pPr>
          </a:p>
        </p:txBody>
      </p:sp>
      <p:sp>
        <p:nvSpPr>
          <p:cNvPr id="50" name="TextBox 49"/>
          <p:cNvSpPr txBox="1"/>
          <p:nvPr/>
        </p:nvSpPr>
        <p:spPr>
          <a:xfrm>
            <a:off x="8366760" y="3977639"/>
            <a:ext cx="2926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The key behavior:</a:t>
            </a:r>
            <a:br/>
            <a:r>
              <a:t>keep the largest tile</a:t>
            </a:r>
            <a:br/>
            <a:r>
              <a:t>in a corner.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6217920"/>
            <a:ext cx="4297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DB2C6"/>
                </a:solidFill>
                <a:latin typeface="Aptos"/>
              </a:defRPr>
            </a:pPr>
            <a:r>
              <a:t>Performance recap for LinkedIn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93192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0F9382"/>
                </a:solidFill>
                <a:latin typeface="Aptos"/>
              </a:defRPr>
            </a:pPr>
            <a:r>
              <a:t>LAYA X JEV / 2048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39319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677A92"/>
                </a:solidFill>
                <a:latin typeface="Aptos"/>
              </a:defRPr>
            </a:pPr>
            <a:r>
              <a:t>02 /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2900" b="1">
                <a:solidFill>
                  <a:srgbClr val="1D2B3D"/>
                </a:solidFill>
                <a:latin typeface="Aptos"/>
              </a:defRPr>
            </a:pPr>
            <a:r>
              <a:t>The result on 20 completely fresh boards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677A92"/>
                </a:solidFill>
                <a:latin typeface="Aptos"/>
              </a:defRPr>
            </a:pPr>
            <a:r>
              <a:t>Seeds 5000-5019: not used in training or prior evaluation.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322576"/>
            <a:ext cx="20116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D2B3D"/>
                </a:solidFill>
                <a:latin typeface="Aptos"/>
              </a:defRPr>
            </a:pPr>
            <a:r>
              <a:t>Greedy rule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350008"/>
            <a:ext cx="6035040" cy="228600"/>
          </a:xfrm>
          <a:prstGeom prst="roundRect">
            <a:avLst/>
          </a:prstGeom>
          <a:solidFill>
            <a:srgbClr val="E0E7EE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0" y="2350008"/>
            <a:ext cx="6035040" cy="228600"/>
          </a:xfrm>
          <a:prstGeom prst="roundRect">
            <a:avLst/>
          </a:prstGeom>
          <a:solidFill>
            <a:srgbClr val="0F9382"/>
          </a:solidFill>
          <a:ln>
            <a:solidFill>
              <a:srgbClr val="0F93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79408" y="2295144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1D2B3D"/>
                </a:solidFill>
                <a:latin typeface="Aptos"/>
              </a:defRPr>
            </a:pPr>
            <a:r>
              <a:t>4,484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916936"/>
            <a:ext cx="20116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D2B3D"/>
                </a:solidFill>
                <a:latin typeface="Aptos"/>
              </a:defRPr>
            </a:pPr>
            <a:r>
              <a:t>Fine-tuned Laya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944368"/>
            <a:ext cx="6035040" cy="228600"/>
          </a:xfrm>
          <a:prstGeom prst="roundRect">
            <a:avLst/>
          </a:prstGeom>
          <a:solidFill>
            <a:srgbClr val="E0E7EE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0" y="2944368"/>
            <a:ext cx="5043107" cy="228600"/>
          </a:xfrm>
          <a:prstGeom prst="roundRect">
            <a:avLst/>
          </a:prstGeom>
          <a:solidFill>
            <a:srgbClr val="21CFB0"/>
          </a:solidFill>
          <a:ln>
            <a:solidFill>
              <a:srgbClr val="21C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79408" y="2889504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1D2B3D"/>
                </a:solidFill>
                <a:latin typeface="Aptos"/>
              </a:defRPr>
            </a:pPr>
            <a:r>
              <a:t>3,747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511296"/>
            <a:ext cx="20116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D2B3D"/>
                </a:solidFill>
                <a:latin typeface="Aptos"/>
              </a:defRPr>
            </a:pPr>
            <a:r>
              <a:t>Original Laya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3538728"/>
            <a:ext cx="6035040" cy="228600"/>
          </a:xfrm>
          <a:prstGeom prst="roundRect">
            <a:avLst/>
          </a:prstGeom>
          <a:solidFill>
            <a:srgbClr val="E0E7EE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43200" y="3538728"/>
            <a:ext cx="1874846" cy="228600"/>
          </a:xfrm>
          <a:prstGeom prst="roundRect">
            <a:avLst/>
          </a:prstGeom>
          <a:solidFill>
            <a:srgbClr val="5BB4FF"/>
          </a:solidFill>
          <a:ln>
            <a:solidFill>
              <a:srgbClr val="5B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79408" y="3483864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1D2B3D"/>
                </a:solidFill>
                <a:latin typeface="Aptos"/>
              </a:defRPr>
            </a:pPr>
            <a:r>
              <a:t>1,393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105656"/>
            <a:ext cx="20116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D2B3D"/>
                </a:solidFill>
                <a:latin typeface="Aptos"/>
              </a:defRPr>
            </a:pPr>
            <a:r>
              <a:t>Random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0" y="4133087"/>
            <a:ext cx="6035040" cy="228600"/>
          </a:xfrm>
          <a:prstGeom prst="roundRect">
            <a:avLst/>
          </a:prstGeom>
          <a:solidFill>
            <a:srgbClr val="E0E7EE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743200" y="4133087"/>
            <a:ext cx="1524910" cy="228600"/>
          </a:xfrm>
          <a:prstGeom prst="roundRect">
            <a:avLst/>
          </a:prstGeom>
          <a:solidFill>
            <a:srgbClr val="FFA949"/>
          </a:solidFill>
          <a:ln>
            <a:solidFill>
              <a:srgbClr val="FFA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79408" y="4078224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1D2B3D"/>
                </a:solidFill>
                <a:latin typeface="Aptos"/>
              </a:defRPr>
            </a:pPr>
            <a:r>
              <a:t>1,133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983480"/>
            <a:ext cx="3154680" cy="1024128"/>
          </a:xfrm>
          <a:prstGeom prst="roundRect">
            <a:avLst/>
          </a:prstGeom>
          <a:solidFill>
            <a:srgbClr val="F0F7F9"/>
          </a:solidFill>
          <a:ln>
            <a:solidFill>
              <a:srgbClr val="F0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4983480"/>
            <a:ext cx="73152" cy="1024128"/>
          </a:xfrm>
          <a:prstGeom prst="roundRect">
            <a:avLst/>
          </a:prstGeom>
          <a:solidFill>
            <a:srgbClr val="21CFB0"/>
          </a:solidFill>
          <a:ln>
            <a:solidFill>
              <a:srgbClr val="21C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" y="521208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2500" b="1">
                <a:solidFill>
                  <a:srgbClr val="1D2B3D"/>
                </a:solidFill>
                <a:latin typeface="Aptos"/>
              </a:defRPr>
            </a:pPr>
            <a:r>
              <a:t>+169%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" y="5742432"/>
            <a:ext cx="2743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677A92"/>
                </a:solidFill>
                <a:latin typeface="Aptos"/>
              </a:defRPr>
            </a:pPr>
            <a:r>
              <a:t>mean-score lift vs original Laya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87368" y="4983480"/>
            <a:ext cx="3154680" cy="1024128"/>
          </a:xfrm>
          <a:prstGeom prst="roundRect">
            <a:avLst/>
          </a:prstGeom>
          <a:solidFill>
            <a:srgbClr val="F0F7F9"/>
          </a:solidFill>
          <a:ln>
            <a:solidFill>
              <a:srgbClr val="F0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087368" y="4983480"/>
            <a:ext cx="73152" cy="1024128"/>
          </a:xfrm>
          <a:prstGeom prst="roundRect">
            <a:avLst/>
          </a:prstGeom>
          <a:solidFill>
            <a:srgbClr val="5BB4FF"/>
          </a:solidFill>
          <a:ln>
            <a:solidFill>
              <a:srgbClr val="5B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400" y="521208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2500" b="1">
                <a:solidFill>
                  <a:srgbClr val="1D2B3D"/>
                </a:solidFill>
                <a:latin typeface="Aptos"/>
              </a:defRPr>
            </a:pPr>
            <a:r>
              <a:t>3,220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5742432"/>
            <a:ext cx="2743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677A92"/>
                </a:solidFill>
                <a:latin typeface="Aptos"/>
              </a:defRPr>
            </a:pPr>
            <a:r>
              <a:t>median score / fine-tuned Laya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88936" y="4983480"/>
            <a:ext cx="3154680" cy="1024128"/>
          </a:xfrm>
          <a:prstGeom prst="roundRect">
            <a:avLst/>
          </a:prstGeom>
          <a:solidFill>
            <a:srgbClr val="F0F7F9"/>
          </a:solidFill>
          <a:ln>
            <a:solidFill>
              <a:srgbClr val="F0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488936" y="4983480"/>
            <a:ext cx="73152" cy="1024128"/>
          </a:xfrm>
          <a:prstGeom prst="roundRect">
            <a:avLst/>
          </a:prstGeom>
          <a:solidFill>
            <a:srgbClr val="FFA949"/>
          </a:solidFill>
          <a:ln>
            <a:solidFill>
              <a:srgbClr val="FFA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44967" y="521208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2500" b="1">
                <a:solidFill>
                  <a:srgbClr val="1D2B3D"/>
                </a:solidFill>
                <a:latin typeface="Aptos"/>
              </a:defRPr>
            </a:pPr>
            <a:r>
              <a:t>512 x 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44967" y="5742432"/>
            <a:ext cx="2743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677A92"/>
                </a:solidFill>
                <a:latin typeface="Aptos"/>
              </a:defRPr>
            </a:pPr>
            <a:r>
              <a:t>best tile achieved by fine-tuned Laya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93192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0F9382"/>
                </a:solidFill>
                <a:latin typeface="Aptos"/>
              </a:defRPr>
            </a:pPr>
            <a:r>
              <a:t>LAYA X JEV / 2048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39319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677A92"/>
                </a:solidFill>
                <a:latin typeface="Aptos"/>
              </a:defRPr>
            </a:pPr>
            <a:r>
              <a:t>03 /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2900" b="1">
                <a:solidFill>
                  <a:srgbClr val="1D2B3D"/>
                </a:solidFill>
                <a:latin typeface="Aptos"/>
              </a:defRPr>
            </a:pPr>
            <a:r>
              <a:t>The improvement held outside the training range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677A92"/>
                </a:solidFill>
                <a:latin typeface="Aptos"/>
              </a:defRPr>
            </a:pPr>
            <a:r>
              <a:t>Boards 0-4 were never included in the training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31136"/>
            <a:ext cx="20116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D2B3D"/>
                </a:solidFill>
                <a:latin typeface="Aptos"/>
              </a:defRPr>
            </a:pPr>
            <a:r>
              <a:t>Fine-tuned Laya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258568"/>
            <a:ext cx="6035040" cy="228600"/>
          </a:xfrm>
          <a:prstGeom prst="roundRect">
            <a:avLst/>
          </a:prstGeom>
          <a:solidFill>
            <a:srgbClr val="E0E7EE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0" y="2258568"/>
            <a:ext cx="6035040" cy="228600"/>
          </a:xfrm>
          <a:prstGeom prst="roundRect">
            <a:avLst/>
          </a:prstGeom>
          <a:solidFill>
            <a:srgbClr val="21CFB0"/>
          </a:solidFill>
          <a:ln>
            <a:solidFill>
              <a:srgbClr val="21C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79408" y="2203704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1D2B3D"/>
                </a:solidFill>
                <a:latin typeface="Aptos"/>
              </a:defRPr>
            </a:pPr>
            <a:r>
              <a:t>4,182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825496"/>
            <a:ext cx="20116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D2B3D"/>
                </a:solidFill>
                <a:latin typeface="Aptos"/>
              </a:defRPr>
            </a:pPr>
            <a:r>
              <a:t>Greedy rule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852928"/>
            <a:ext cx="6035040" cy="228600"/>
          </a:xfrm>
          <a:prstGeom prst="roundRect">
            <a:avLst/>
          </a:prstGeom>
          <a:solidFill>
            <a:srgbClr val="E0E7EE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0" y="2852928"/>
            <a:ext cx="5366885" cy="228600"/>
          </a:xfrm>
          <a:prstGeom prst="roundRect">
            <a:avLst/>
          </a:prstGeom>
          <a:solidFill>
            <a:srgbClr val="0F9382"/>
          </a:solidFill>
          <a:ln>
            <a:solidFill>
              <a:srgbClr val="0F93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79408" y="2798064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1D2B3D"/>
                </a:solidFill>
                <a:latin typeface="Aptos"/>
              </a:defRPr>
            </a:pPr>
            <a:r>
              <a:t>3,719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419856"/>
            <a:ext cx="20116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D2B3D"/>
                </a:solidFill>
                <a:latin typeface="Aptos"/>
              </a:defRPr>
            </a:pPr>
            <a:r>
              <a:t>Jev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3447288"/>
            <a:ext cx="6035040" cy="228600"/>
          </a:xfrm>
          <a:prstGeom prst="roundRect">
            <a:avLst/>
          </a:prstGeom>
          <a:solidFill>
            <a:srgbClr val="E0E7EE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43200" y="3447288"/>
            <a:ext cx="3806895" cy="228600"/>
          </a:xfrm>
          <a:prstGeom prst="roundRect">
            <a:avLst/>
          </a:prstGeom>
          <a:solidFill>
            <a:srgbClr val="5BB4FF"/>
          </a:solidFill>
          <a:ln>
            <a:solidFill>
              <a:srgbClr val="5B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79408" y="3392424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1D2B3D"/>
                </a:solidFill>
                <a:latin typeface="Aptos"/>
              </a:defRPr>
            </a:pPr>
            <a:r>
              <a:t>2,638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014216"/>
            <a:ext cx="20116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D2B3D"/>
                </a:solidFill>
                <a:latin typeface="Aptos"/>
              </a:defRPr>
            </a:pPr>
            <a:r>
              <a:t>Original Laya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0" y="4041648"/>
            <a:ext cx="6035040" cy="228600"/>
          </a:xfrm>
          <a:prstGeom prst="roundRect">
            <a:avLst/>
          </a:prstGeom>
          <a:solidFill>
            <a:srgbClr val="E0E7EE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743200" y="4041648"/>
            <a:ext cx="1437326" cy="228600"/>
          </a:xfrm>
          <a:prstGeom prst="roundRect">
            <a:avLst/>
          </a:prstGeom>
          <a:solidFill>
            <a:srgbClr val="FFA949"/>
          </a:solidFill>
          <a:ln>
            <a:solidFill>
              <a:srgbClr val="FFA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79408" y="3986784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1D2B3D"/>
                </a:solidFill>
                <a:latin typeface="Aptos"/>
              </a:defRPr>
            </a:pPr>
            <a:r>
              <a:t>996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4944" y="4754880"/>
            <a:ext cx="10744200" cy="914400"/>
          </a:xfrm>
          <a:prstGeom prst="roundRect">
            <a:avLst/>
          </a:prstGeom>
          <a:solidFill>
            <a:srgbClr val="0B172A"/>
          </a:solidFill>
          <a:ln>
            <a:solidFill>
              <a:srgbClr val="0B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047488"/>
            <a:ext cx="1014984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FFFFFF"/>
                </a:solidFill>
                <a:latin typeface="Aptos"/>
              </a:defRPr>
            </a:pPr>
            <a:r>
              <a:t>Fine-tuned Laya beat original Laya on every held-out board: 5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93192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0F9382"/>
                </a:solidFill>
                <a:latin typeface="Aptos"/>
              </a:defRPr>
            </a:pPr>
            <a:r>
              <a:t>LAYA X JEV / 2048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39319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677A92"/>
                </a:solidFill>
                <a:latin typeface="Aptos"/>
              </a:defRPr>
            </a:pPr>
            <a:r>
              <a:t>04 /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2900" b="1">
                <a:solidFill>
                  <a:srgbClr val="1D2B3D"/>
                </a:solidFill>
                <a:latin typeface="Aptos"/>
              </a:defRPr>
            </a:pPr>
            <a:r>
              <a:t>What did Laya actually learn?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677A92"/>
                </a:solidFill>
                <a:latin typeface="Aptos"/>
              </a:defRPr>
            </a:pPr>
            <a:r>
              <a:t>The adapter learned a simple but highly effective 2048 policy from move descriptions.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D2B3D"/>
                </a:solidFill>
                <a:latin typeface="Aptos"/>
              </a:defRPr>
            </a:pPr>
            <a:r>
              <a:t>Agreement with teachers</a:t>
            </a:r>
            <a:br/>
            <a:r>
              <a:t>on unseen game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779776"/>
            <a:ext cx="20116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D2B3D"/>
                </a:solidFill>
                <a:latin typeface="Aptos"/>
              </a:defRPr>
            </a:pPr>
            <a:r>
              <a:t>Before training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807208"/>
            <a:ext cx="6035040" cy="228600"/>
          </a:xfrm>
          <a:prstGeom prst="roundRect">
            <a:avLst/>
          </a:prstGeom>
          <a:solidFill>
            <a:srgbClr val="E0E7EE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43200" y="2807208"/>
            <a:ext cx="3264956" cy="228600"/>
          </a:xfrm>
          <a:prstGeom prst="roundRect">
            <a:avLst/>
          </a:prstGeom>
          <a:solidFill>
            <a:srgbClr val="5BB4FF"/>
          </a:solidFill>
          <a:ln>
            <a:solidFill>
              <a:srgbClr val="5B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79408" y="2752344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1D2B3D"/>
                </a:solidFill>
                <a:latin typeface="Aptos"/>
              </a:defRPr>
            </a:pPr>
            <a:r>
              <a:t>54.1%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374136"/>
            <a:ext cx="20116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D2B3D"/>
                </a:solidFill>
                <a:latin typeface="Aptos"/>
              </a:defRPr>
            </a:pPr>
            <a:r>
              <a:t>After epoch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3401568"/>
            <a:ext cx="6035040" cy="228600"/>
          </a:xfrm>
          <a:prstGeom prst="roundRect">
            <a:avLst/>
          </a:prstGeom>
          <a:solidFill>
            <a:srgbClr val="E0E7EE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43200" y="3401568"/>
            <a:ext cx="5341010" cy="228600"/>
          </a:xfrm>
          <a:prstGeom prst="roundRect">
            <a:avLst/>
          </a:prstGeom>
          <a:solidFill>
            <a:srgbClr val="FFA949"/>
          </a:solidFill>
          <a:ln>
            <a:solidFill>
              <a:srgbClr val="FFA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79408" y="3346704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1D2B3D"/>
                </a:solidFill>
                <a:latin typeface="Aptos"/>
              </a:defRPr>
            </a:pPr>
            <a:r>
              <a:t>88.5%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968496"/>
            <a:ext cx="20116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D2B3D"/>
                </a:solidFill>
                <a:latin typeface="Aptos"/>
              </a:defRPr>
            </a:pPr>
            <a:r>
              <a:t>After epoch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3995927"/>
            <a:ext cx="6035040" cy="228600"/>
          </a:xfrm>
          <a:prstGeom prst="roundRect">
            <a:avLst/>
          </a:prstGeom>
          <a:solidFill>
            <a:srgbClr val="E0E7EE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743200" y="3995927"/>
            <a:ext cx="5691042" cy="228600"/>
          </a:xfrm>
          <a:prstGeom prst="roundRect">
            <a:avLst/>
          </a:prstGeom>
          <a:solidFill>
            <a:srgbClr val="21CFB0"/>
          </a:solidFill>
          <a:ln>
            <a:solidFill>
              <a:srgbClr val="21C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79408" y="3941063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1D2B3D"/>
                </a:solidFill>
                <a:latin typeface="Aptos"/>
              </a:defRPr>
            </a:pPr>
            <a:r>
              <a:t>94.3%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20240"/>
            <a:ext cx="4434840" cy="3383280"/>
          </a:xfrm>
          <a:prstGeom prst="roundRect">
            <a:avLst/>
          </a:prstGeom>
          <a:solidFill>
            <a:srgbClr val="12243D"/>
          </a:solidFill>
          <a:ln>
            <a:solidFill>
              <a:srgbClr val="122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784848" y="2304288"/>
            <a:ext cx="438912" cy="438912"/>
          </a:xfrm>
          <a:prstGeom prst="roundRect">
            <a:avLst/>
          </a:prstGeom>
          <a:solidFill>
            <a:srgbClr val="EDC850"/>
          </a:solidFill>
          <a:ln w="31750">
            <a:solidFill>
              <a:srgbClr val="21C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84848" y="2377440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512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9480" y="2304288"/>
            <a:ext cx="438912" cy="438912"/>
          </a:xfrm>
          <a:prstGeom prst="roundRect">
            <a:avLst/>
          </a:prstGeom>
          <a:solidFill>
            <a:srgbClr val="EDCF72"/>
          </a:solidFill>
          <a:ln>
            <a:solidFill>
              <a:srgbClr val="EDC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2377440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128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54112" y="2304288"/>
            <a:ext cx="438912" cy="438912"/>
          </a:xfrm>
          <a:prstGeom prst="roundRect">
            <a:avLst/>
          </a:prstGeom>
          <a:solidFill>
            <a:srgbClr val="F65E3B"/>
          </a:solidFill>
          <a:ln>
            <a:solidFill>
              <a:srgbClr val="F65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2" y="2377440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64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38744" y="2304288"/>
            <a:ext cx="438912" cy="438912"/>
          </a:xfrm>
          <a:prstGeom prst="roundRect">
            <a:avLst/>
          </a:prstGeom>
          <a:solidFill>
            <a:srgbClr val="F67C5F"/>
          </a:solidFill>
          <a:ln>
            <a:solidFill>
              <a:srgbClr val="F67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38744" y="2377440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32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84848" y="2788920"/>
            <a:ext cx="438912" cy="438912"/>
          </a:xfrm>
          <a:prstGeom prst="roundRect">
            <a:avLst/>
          </a:prstGeom>
          <a:solidFill>
            <a:srgbClr val="EDCC61"/>
          </a:solidFill>
          <a:ln>
            <a:solidFill>
              <a:srgbClr val="EDC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84848" y="2862072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256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69480" y="2788920"/>
            <a:ext cx="438912" cy="438912"/>
          </a:xfrm>
          <a:prstGeom prst="roundRect">
            <a:avLst/>
          </a:prstGeom>
          <a:solidFill>
            <a:srgbClr val="F65E3B"/>
          </a:solidFill>
          <a:ln>
            <a:solidFill>
              <a:srgbClr val="F65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69480" y="2862072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64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54112" y="2788920"/>
            <a:ext cx="438912" cy="438912"/>
          </a:xfrm>
          <a:prstGeom prst="roundRect">
            <a:avLst/>
          </a:prstGeom>
          <a:solidFill>
            <a:srgbClr val="F59563"/>
          </a:solidFill>
          <a:ln>
            <a:solidFill>
              <a:srgbClr val="F59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54112" y="2862072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38744" y="2788920"/>
            <a:ext cx="438912" cy="438912"/>
          </a:xfrm>
          <a:prstGeom prst="roundRect">
            <a:avLst/>
          </a:prstGeom>
          <a:solidFill>
            <a:srgbClr val="F2B179"/>
          </a:solidFill>
          <a:ln>
            <a:solidFill>
              <a:srgbClr val="F2B1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38744" y="2862072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784848" y="3273552"/>
            <a:ext cx="438912" cy="438912"/>
          </a:xfrm>
          <a:prstGeom prst="roundRect">
            <a:avLst/>
          </a:prstGeom>
          <a:solidFill>
            <a:srgbClr val="F67C5F"/>
          </a:solidFill>
          <a:ln>
            <a:solidFill>
              <a:srgbClr val="F67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84848" y="3346704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32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69480" y="3273552"/>
            <a:ext cx="438912" cy="438912"/>
          </a:xfrm>
          <a:prstGeom prst="roundRect">
            <a:avLst/>
          </a:prstGeom>
          <a:solidFill>
            <a:srgbClr val="F59563"/>
          </a:solidFill>
          <a:ln>
            <a:solidFill>
              <a:srgbClr val="F59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69480" y="3346704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54112" y="3273552"/>
            <a:ext cx="438912" cy="438912"/>
          </a:xfrm>
          <a:prstGeom prst="roundRect">
            <a:avLst/>
          </a:prstGeom>
          <a:solidFill>
            <a:srgbClr val="F2B179"/>
          </a:solidFill>
          <a:ln>
            <a:solidFill>
              <a:srgbClr val="F2B1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54112" y="3346704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38744" y="3273552"/>
            <a:ext cx="438912" cy="438912"/>
          </a:xfrm>
          <a:prstGeom prst="roundRect">
            <a:avLst/>
          </a:prstGeom>
          <a:solidFill>
            <a:srgbClr val="EDE0C8"/>
          </a:solidFill>
          <a:ln>
            <a:solidFill>
              <a:srgbClr val="EDE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38744" y="3346704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1D2B3D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784848" y="3758184"/>
            <a:ext cx="438912" cy="438912"/>
          </a:xfrm>
          <a:prstGeom prst="roundRect">
            <a:avLst/>
          </a:prstGeom>
          <a:solidFill>
            <a:srgbClr val="EDE0C8"/>
          </a:solidFill>
          <a:ln>
            <a:solidFill>
              <a:srgbClr val="EDE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84848" y="3831336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1D2B3D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269480" y="3758184"/>
            <a:ext cx="438912" cy="438912"/>
          </a:xfrm>
          <a:prstGeom prst="roundRect">
            <a:avLst/>
          </a:prstGeom>
          <a:solidFill>
            <a:srgbClr val="EEE4DA"/>
          </a:solidFill>
          <a:ln>
            <a:solidFill>
              <a:srgbClr val="EEE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69480" y="3831336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1D2B3D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54112" y="3758184"/>
            <a:ext cx="438912" cy="438912"/>
          </a:xfrm>
          <a:prstGeom prst="roundRect">
            <a:avLst/>
          </a:prstGeom>
          <a:solidFill>
            <a:srgbClr val="2F4157"/>
          </a:solidFill>
          <a:ln>
            <a:solidFill>
              <a:srgbClr val="2F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54112" y="3831336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1D2B3D"/>
                </a:solidFill>
                <a:latin typeface="Aptos"/>
              </a:defRPr>
            </a:pPr>
          </a:p>
        </p:txBody>
      </p:sp>
      <p:sp>
        <p:nvSpPr>
          <p:cNvPr id="50" name="Rounded Rectangle 49"/>
          <p:cNvSpPr/>
          <p:nvPr/>
        </p:nvSpPr>
        <p:spPr>
          <a:xfrm>
            <a:off x="8238744" y="3758184"/>
            <a:ext cx="438912" cy="438912"/>
          </a:xfrm>
          <a:prstGeom prst="roundRect">
            <a:avLst/>
          </a:prstGeom>
          <a:solidFill>
            <a:srgbClr val="2F4157"/>
          </a:solidFill>
          <a:ln>
            <a:solidFill>
              <a:srgbClr val="2F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38744" y="3831336"/>
            <a:ext cx="438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1D2B3D"/>
                </a:solidFill>
                <a:latin typeface="Aptos"/>
              </a:defRPr>
            </a:pPr>
          </a:p>
        </p:txBody>
      </p:sp>
      <p:sp>
        <p:nvSpPr>
          <p:cNvPr id="52" name="TextBox 51"/>
          <p:cNvSpPr txBox="1"/>
          <p:nvPr/>
        </p:nvSpPr>
        <p:spPr>
          <a:xfrm>
            <a:off x="8915400" y="242316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C7D7E6"/>
                </a:solidFill>
                <a:latin typeface="Aptos"/>
              </a:defRPr>
            </a:pPr>
            <a:r>
              <a:t>Corner-rule agreement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58200" y="283464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1CFB0"/>
                </a:solidFill>
                <a:latin typeface="Aptos"/>
              </a:defRPr>
            </a:pPr>
            <a:r>
              <a:t>45%  -&gt;  98%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56448" y="3657600"/>
            <a:ext cx="301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It consistently keeps the largest tile in a corner when possible.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93192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0F9382"/>
                </a:solidFill>
                <a:latin typeface="Aptos"/>
              </a:defRPr>
            </a:pPr>
            <a:r>
              <a:t>LAYA X JEV / 2048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39319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677A92"/>
                </a:solidFill>
                <a:latin typeface="Aptos"/>
              </a:defRPr>
            </a:pPr>
            <a:r>
              <a:t>05 /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2900" b="1">
                <a:solidFill>
                  <a:srgbClr val="1D2B3D"/>
                </a:solidFill>
                <a:latin typeface="Aptos"/>
              </a:defRPr>
            </a:pPr>
            <a:r>
              <a:t>A small, fast adapter changed the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677A92"/>
                </a:solidFill>
                <a:latin typeface="Aptos"/>
              </a:defRPr>
            </a:pPr>
            <a:r>
              <a:t>LoRA modified a limited subset of the model instead of retraining Laya end to end.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057400"/>
            <a:ext cx="3246120" cy="1234440"/>
          </a:xfrm>
          <a:prstGeom prst="roundRect">
            <a:avLst/>
          </a:prstGeom>
          <a:solidFill>
            <a:srgbClr val="F0F7F9"/>
          </a:solidFill>
          <a:ln>
            <a:solidFill>
              <a:srgbClr val="F0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2057400"/>
            <a:ext cx="73152" cy="1234440"/>
          </a:xfrm>
          <a:prstGeom prst="roundRect">
            <a:avLst/>
          </a:prstGeom>
          <a:solidFill>
            <a:srgbClr val="21CFB0"/>
          </a:solidFill>
          <a:ln>
            <a:solidFill>
              <a:srgbClr val="21C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286000"/>
            <a:ext cx="28346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2500" b="1">
                <a:solidFill>
                  <a:srgbClr val="1D2B3D"/>
                </a:solidFill>
                <a:latin typeface="Aptos"/>
              </a:defRPr>
            </a:pPr>
            <a:r>
              <a:t>8.3M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2816352"/>
            <a:ext cx="283463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677A92"/>
                </a:solidFill>
                <a:latin typeface="Aptos"/>
              </a:defRPr>
            </a:pPr>
            <a:r>
              <a:t>trainable parameters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3984" y="2057400"/>
            <a:ext cx="3246120" cy="1234440"/>
          </a:xfrm>
          <a:prstGeom prst="roundRect">
            <a:avLst/>
          </a:prstGeom>
          <a:solidFill>
            <a:srgbClr val="F0F7F9"/>
          </a:solidFill>
          <a:ln>
            <a:solidFill>
              <a:srgbClr val="F0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43984" y="2057400"/>
            <a:ext cx="73152" cy="1234440"/>
          </a:xfrm>
          <a:prstGeom prst="roundRect">
            <a:avLst/>
          </a:prstGeom>
          <a:solidFill>
            <a:srgbClr val="5BB4FF"/>
          </a:solidFill>
          <a:ln>
            <a:solidFill>
              <a:srgbClr val="5B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0016" y="2286000"/>
            <a:ext cx="28346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2500" b="1">
                <a:solidFill>
                  <a:srgbClr val="1D2B3D"/>
                </a:solidFill>
                <a:latin typeface="Aptos"/>
              </a:defRPr>
            </a:pPr>
            <a:r>
              <a:t>8,111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0016" y="2816352"/>
            <a:ext cx="283463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677A92"/>
                </a:solidFill>
                <a:latin typeface="Aptos"/>
              </a:defRPr>
            </a:pPr>
            <a:r>
              <a:t>Jev + greedy move examples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74736" y="2057400"/>
            <a:ext cx="3246120" cy="1234440"/>
          </a:xfrm>
          <a:prstGeom prst="roundRect">
            <a:avLst/>
          </a:prstGeom>
          <a:solidFill>
            <a:srgbClr val="F0F7F9"/>
          </a:solidFill>
          <a:ln>
            <a:solidFill>
              <a:srgbClr val="F0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74736" y="2057400"/>
            <a:ext cx="73152" cy="1234440"/>
          </a:xfrm>
          <a:prstGeom prst="roundRect">
            <a:avLst/>
          </a:prstGeom>
          <a:solidFill>
            <a:srgbClr val="FFA949"/>
          </a:solidFill>
          <a:ln>
            <a:solidFill>
              <a:srgbClr val="FFA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7" y="2286000"/>
            <a:ext cx="28346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2500" b="1">
                <a:solidFill>
                  <a:srgbClr val="1D2B3D"/>
                </a:solidFill>
                <a:latin typeface="Aptos"/>
              </a:defRPr>
            </a:pPr>
            <a:r>
              <a:t>~45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7" y="2816352"/>
            <a:ext cx="283463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677A92"/>
                </a:solidFill>
                <a:latin typeface="Aptos"/>
              </a:defRPr>
            </a:pPr>
            <a:r>
              <a:t>2 epochs on an M5 Pro GPU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840480"/>
            <a:ext cx="10698480" cy="1234440"/>
          </a:xfrm>
          <a:prstGeom prst="roundRect">
            <a:avLst/>
          </a:prstGeom>
          <a:solidFill>
            <a:srgbClr val="F0F7F9"/>
          </a:solidFill>
          <a:ln>
            <a:solidFill>
              <a:srgbClr val="F0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11480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D2B3D"/>
                </a:solidFill>
                <a:latin typeface="Aptos"/>
              </a:defRPr>
            </a:pPr>
            <a:r>
              <a:t>Inference 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404164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5BB4FF"/>
                </a:solidFill>
                <a:latin typeface="Aptos"/>
              </a:defRPr>
            </a:pPr>
            <a:r>
              <a:t>96 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449884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677A92"/>
                </a:solidFill>
                <a:latin typeface="Aptos"/>
              </a:defRPr>
            </a:pPr>
            <a:r>
              <a:t>original Laya / move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160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677A92"/>
                </a:solidFill>
                <a:latin typeface="Aptos"/>
              </a:defRPr>
            </a:pPr>
            <a:r>
              <a:t>-&gt;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404164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21CFB0"/>
                </a:solidFill>
                <a:latin typeface="Aptos"/>
              </a:defRPr>
            </a:pPr>
            <a:r>
              <a:t>114 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4498848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677A92"/>
                </a:solidFill>
                <a:latin typeface="Aptos"/>
              </a:defRPr>
            </a:pPr>
            <a:r>
              <a:t>fine-tuned Laya / move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4224528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1D2B3D"/>
                </a:solidFill>
                <a:latin typeface="Aptos"/>
              </a:defRPr>
            </a:pPr>
            <a:r>
              <a:t>+18 ms per move for +169% mean score.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93192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0F9382"/>
                </a:solidFill>
                <a:latin typeface="Aptos"/>
              </a:defRPr>
            </a:pPr>
            <a:r>
              <a:t>LAYA X JEV / 2048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39319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677A92"/>
                </a:solidFill>
                <a:latin typeface="Aptos"/>
              </a:defRPr>
            </a:pPr>
            <a:r>
              <a:t>06 /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5303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The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67665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C7D7E6"/>
                </a:solidFill>
                <a:latin typeface="Aptos"/>
              </a:defRPr>
            </a:pPr>
            <a:r>
              <a:t>Fine-tuning converted Laya from a weak 2048 player into a policy that reliably follows a strong heuristic.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5212080" cy="2423160"/>
          </a:xfrm>
          <a:prstGeom prst="roundRect">
            <a:avLst/>
          </a:prstGeom>
          <a:solidFill>
            <a:srgbClr val="12243D"/>
          </a:solidFill>
          <a:ln>
            <a:solidFill>
              <a:srgbClr val="122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01752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1CFB0"/>
                </a:solidFill>
                <a:latin typeface="Aptos"/>
              </a:defRPr>
            </a:pPr>
            <a:r>
              <a:t>What improved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20440"/>
            <a:ext cx="45720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• 19 / 20 fresh-board wins vs original Laya</a:t>
            </a:r>
            <a:br/>
            <a:r>
              <a:t>• 2.7x higher mean score</a:t>
            </a:r>
            <a:br/>
            <a:r>
              <a:t>• 94.3% teacher agreement after 2 epochs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743200"/>
            <a:ext cx="5166360" cy="2423160"/>
          </a:xfrm>
          <a:prstGeom prst="roundRect">
            <a:avLst/>
          </a:prstGeom>
          <a:solidFill>
            <a:srgbClr val="293445"/>
          </a:solidFill>
          <a:ln>
            <a:solidFill>
              <a:srgbClr val="29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301752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FA949"/>
                </a:solidFill>
                <a:latin typeface="Aptos"/>
              </a:defRPr>
            </a:pPr>
            <a:r>
              <a:t>Important 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3456432"/>
            <a:ext cx="4526280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250" b="0">
                <a:solidFill>
                  <a:srgbClr val="FFFFFF"/>
                </a:solidFill>
                <a:latin typeface="Aptos"/>
              </a:defRPr>
            </a:pPr>
            <a:r>
              <a:t>• Greedy rule still scored higher (4,484)</a:t>
            </a:r>
            <a:br/>
            <a:r>
              <a:t>• Fine-tuned Laya never reached 2048</a:t>
            </a:r>
            <a:br/>
            <a:r>
              <a:t>• Confidence and untrained “danger” outputs are not meaningful</a:t>
            </a:r>
            <a:br/>
            <a:r>
              <a:t>• Jev was not run on fresh boards due to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733288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1CFB0"/>
                </a:solidFill>
                <a:latin typeface="Aptos"/>
              </a:defRPr>
            </a:pPr>
            <a:r>
              <a:t>A reminder: targeted examples can teach a compact policy fast - but benchmark honestly.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Fine-tuned Laya vs Jev: 2048 Performance</dc:title>
  <dc:subject>LinkedIn presentation on Laya fine-tuning experiment</dc:subject>
  <dc:creator>2048 Jev vs Laya experiment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